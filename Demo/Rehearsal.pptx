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 will share seven lessons from incident response.</a:t>
            </a:r>
          </a:p>
          <a:p>
            <a:r>
              <a:t>These lessons are about judgement, preparation, and communication.</a:t>
            </a:r>
          </a:p>
          <a:p>
            <a:r>
              <a:t>Let’s begin with what experience teaches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Certifications provide knowledge, but experience provides judgement.</a:t>
            </a:r>
          </a:p>
          <a:p>
            <a:r>
              <a:t>Start preserving evidence before rebuilding systems.</a:t>
            </a:r>
          </a:p>
          <a:p>
            <a:r>
              <a:t>Request topology, asset records, logs and access before travelling.</a:t>
            </a:r>
          </a:p>
          <a:p>
            <a:r>
              <a:t>Separate confirmed facts from hypotheses and unknowns.</a:t>
            </a:r>
          </a:p>
          <a:p>
            <a:r>
              <a:t>Identity, firewall and hypervisor access must have clear ownership.</a:t>
            </a:r>
          </a:p>
          <a:p>
            <a:r>
              <a:t>Communication planning matters as much as technical planning.</a:t>
            </a:r>
          </a:p>
          <a:p>
            <a:r>
              <a:t>A responder must learn quickly, but high-risk decisions still require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Effective response needs more than technical knowledge.</a:t>
            </a:r>
          </a:p>
          <a:p>
            <a:r>
              <a:t>It needs judgement, evidence, clear ownership, and communication.</a:t>
            </a:r>
          </a:p>
          <a:p>
            <a:r>
              <a:t>Thank you. I’m happy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274320"/>
          </a:xfrm>
          <a:prstGeom prst="rect">
            <a:avLst/>
          </a:prstGeom>
          <a:solidFill>
            <a:srgbClr val="F9D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5394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B3BDCA"/>
                </a:solidFill>
                <a:latin typeface="DejaVu Sans"/>
              </a:defRPr>
            </a:pPr>
            <a:r>
              <a:t>INCIDENT RESPONSE  /  LESSONS LEARNED</a:t>
            </a:r>
          </a:p>
        </p:txBody>
      </p:sp>
      <p:sp>
        <p:nvSpPr>
          <p:cNvPr id="4" name="TextBox 3"/>
          <p:cNvSpPr txBox="1"/>
          <p:nvPr>
            <p:ph type="title"/>
          </p:nvPr>
        </p:nvSpPr>
        <p:spPr>
          <a:xfrm>
            <a:off x="731520" y="1124712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900" b="1">
                <a:solidFill>
                  <a:srgbClr val="F7F8FA"/>
                </a:solidFill>
                <a:latin typeface="DejaVu Sans"/>
              </a:defRPr>
            </a:pPr>
            <a:r>
              <a:t>Lessons from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0">
                <a:solidFill>
                  <a:srgbClr val="B3BDCA"/>
                </a:solidFill>
                <a:latin typeface="DejaVu Sans"/>
              </a:defRPr>
            </a:pPr>
            <a:r>
              <a:t>What training teaches us.</a:t>
            </a:r>
          </a:p>
          <a:p>
            <a:pPr>
              <a:defRPr sz="3000" b="0">
                <a:solidFill>
                  <a:srgbClr val="B3BDCA"/>
                </a:solidFill>
                <a:latin typeface="DejaVu Sans"/>
              </a:defRPr>
            </a:pPr>
            <a:r>
              <a:t>What the field makes us verify.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83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9D96B"/>
                </a:solidFill>
                <a:latin typeface="DejaVu Sans"/>
              </a:defRPr>
            </a:pPr>
            <a:r>
              <a:t>Seven lessons · One clearer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B3BDCA"/>
                </a:solidFill>
                <a:latin typeface="DejaVu Sans"/>
              </a:defRPr>
            </a:pPr>
            <a:r>
              <a:t>SCRIPT COMPANION DEMO  •  Sample content for local rehearsal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B3BDCA"/>
                </a:solidFill>
                <a:latin typeface="DejaVu San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274320"/>
          </a:xfrm>
          <a:prstGeom prst="rect">
            <a:avLst/>
          </a:prstGeom>
          <a:solidFill>
            <a:srgbClr val="F9D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5394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B3BDCA"/>
                </a:solidFill>
                <a:latin typeface="DejaVu Sans"/>
              </a:defRPr>
            </a:pPr>
            <a:r>
              <a:t>INCIDENT RESPONSE  /  LESSONS LEARNED</a:t>
            </a:r>
          </a:p>
        </p:txBody>
      </p:sp>
      <p:sp>
        <p:nvSpPr>
          <p:cNvPr id="4" name="TextBox 3"/>
          <p:cNvSpPr txBox="1"/>
          <p:nvPr>
            <p:ph type="title"/>
          </p:nvPr>
        </p:nvSpPr>
        <p:spPr>
          <a:xfrm>
            <a:off x="731520" y="1124712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900" b="1">
                <a:solidFill>
                  <a:srgbClr val="F7F8FA"/>
                </a:solidFill>
                <a:latin typeface="DejaVu Sans"/>
              </a:defRPr>
            </a:pPr>
            <a:r>
              <a:t>Seven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423160"/>
            <a:ext cx="5486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9D96B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423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7F8FA"/>
                </a:solidFill>
                <a:latin typeface="DejaVu Sans"/>
              </a:defRPr>
            </a:pPr>
            <a:r>
              <a:t>Knowledge →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89504"/>
            <a:ext cx="5486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9D96B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889504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7F8FA"/>
                </a:solidFill>
                <a:latin typeface="DejaVu Sans"/>
              </a:defRPr>
            </a:pPr>
            <a:r>
              <a:t>Preserve evidence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355848"/>
            <a:ext cx="5486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9D96B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55848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7F8FA"/>
                </a:solidFill>
                <a:latin typeface="DejaVu Sans"/>
              </a:defRPr>
            </a:pPr>
            <a:r>
              <a:t>Prepare before travelling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822191"/>
            <a:ext cx="5486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9D96B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822191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7F8FA"/>
                </a:solidFill>
                <a:latin typeface="DejaVu Sans"/>
              </a:defRPr>
            </a:pPr>
            <a:r>
              <a:t>Facts ≠ hypotheses ≠ unknowns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288536"/>
            <a:ext cx="5486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9D96B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288536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7F8FA"/>
                </a:solidFill>
                <a:latin typeface="DejaVu Sans"/>
              </a:defRPr>
            </a:pPr>
            <a:r>
              <a:t>Define access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754879"/>
            <a:ext cx="5486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9D96B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754879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7F8FA"/>
                </a:solidFill>
                <a:latin typeface="DejaVu Sans"/>
              </a:defRPr>
            </a:pPr>
            <a:r>
              <a:t>Plan the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221224"/>
            <a:ext cx="5486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9D96B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221224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7F8FA"/>
                </a:solidFill>
                <a:latin typeface="DejaVu Sans"/>
              </a:defRPr>
            </a:pPr>
            <a:r>
              <a:t>Verify high-risk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1908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B3BDCA"/>
                </a:solidFill>
                <a:latin typeface="DejaVu Sans"/>
              </a:defRPr>
            </a:pPr>
            <a:r>
              <a:t>SCRIPT COMPANION DEMO  •  Sample content for local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0232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B3BDCA"/>
                </a:solidFill>
                <a:latin typeface="DejaVu San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" cy="274320"/>
          </a:xfrm>
          <a:prstGeom prst="rect">
            <a:avLst/>
          </a:prstGeom>
          <a:solidFill>
            <a:srgbClr val="F9D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5394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B3BDCA"/>
                </a:solidFill>
                <a:latin typeface="DejaVu Sans"/>
              </a:defRPr>
            </a:pPr>
            <a:r>
              <a:t>INCIDENT RESPONSE  /  LESSONS LEARNED</a:t>
            </a:r>
          </a:p>
        </p:txBody>
      </p:sp>
      <p:sp>
        <p:nvSpPr>
          <p:cNvPr id="4" name="TextBox 3"/>
          <p:cNvSpPr txBox="1"/>
          <p:nvPr>
            <p:ph type="title"/>
          </p:nvPr>
        </p:nvSpPr>
        <p:spPr>
          <a:xfrm>
            <a:off x="731520" y="1124712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900" b="1">
                <a:solidFill>
                  <a:srgbClr val="F7F8FA"/>
                </a:solidFill>
                <a:latin typeface="DejaVu Sans"/>
              </a:defRPr>
            </a:pPr>
            <a:r>
              <a:t>Knowledge. Judgement.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7432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0">
                <a:solidFill>
                  <a:srgbClr val="F9D96B"/>
                </a:solidFill>
                <a:latin typeface="DejaVu Sans"/>
              </a:defRPr>
            </a:pPr>
            <a:r>
              <a:t>Learn quickly.</a:t>
            </a:r>
          </a:p>
          <a:p>
            <a:pPr>
              <a:defRPr sz="3200" b="0">
                <a:solidFill>
                  <a:srgbClr val="F9D96B"/>
                </a:solidFill>
                <a:latin typeface="DejaVu Sans"/>
              </a:defRPr>
            </a:pPr>
            <a:r>
              <a:t>Verify before high-risk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0292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0">
                <a:solidFill>
                  <a:srgbClr val="B3BDCA"/>
                </a:solidFill>
                <a:latin typeface="DejaVu Sans"/>
              </a:defRPr>
            </a:pPr>
            <a:r>
              <a:t>Thank you.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B3BDCA"/>
                </a:solidFill>
                <a:latin typeface="DejaVu Sans"/>
              </a:defRPr>
            </a:pPr>
            <a:r>
              <a:t>SCRIPT COMPANION DEMO  •  Sample content for local rehearsal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B3BDCA"/>
                </a:solidFill>
                <a:latin typeface="DejaVu San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Script Companion sample</cp:lastModifiedBy>
  <cp:revision>1</cp:revision>
  <dcterms:created xsi:type="dcterms:W3CDTF">2013-01-27T09:14:16Z</dcterms:created>
  <dcterms:modified xsi:type="dcterms:W3CDTF">2013-01-27T09:15:58Z</dcterms:modified>
  <cp:category/>
</cp:coreProperties>
</file>